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4864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74519"/>
            <a:ext cx="1054577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8E0A12"/>
                </a:solidFill>
                <a:latin typeface="Tahoma"/>
                <a:ea typeface="Tahoma"/>
                <a:cs typeface="Tahoma"/>
              </a:rPr>
              <a:t>X Fitness Chatbot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333B4A"/>
                </a:solidFill>
                <a:latin typeface="Tahoma"/>
                <a:ea typeface="Tahoma"/>
                <a:cs typeface="Tahoma"/>
              </a:rPr>
              <a:t>ผู้ช่วยตอบลูกค้าสตูดิโอฟิตเนส — ตอบจากข้อมูลจริง และไม่ถูกหลอก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68076040 เบญจมาภรณ์ เจียนเกาะ · 68076065 สรรเสริญ มากเจริญ · 06048308 Intelligent Chatbot Development · ตุลาคม 2569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ผู้พัฒนา 2 คน: ฝั่งธุรกิจและข้อมูล · ฝั่งระบบและการทดสอบ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ร่างการแบ่งงาน — แก้ให้ตรงกับที่ทำจริงก่อนนำเสนอ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4577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413"/>
                <a:gridCol w="4793534"/>
                <a:gridCol w="3834827"/>
              </a:tblGrid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ใคร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ทำอะไร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ได้อะไร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เบญจมาภรณ์ เจียนเกาะ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68076040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วิเคราะห์ธุรกิจ · เขียนคลังความรู้ · กฎต้องทำ/ห้ามทำ · ออกแบบชุดทดสอบ · คลิป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คลังความรู้ 9 เอกสาร · กฎ 20 ข้อ · test case 40 กรณี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สรรเสริญ มากเจริญ</a:t>
                      </a:r>
                    </a:p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68076065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สถาปัตยกรรม · backend · LightRAG + Typhoon · guardrail · LINE OA · deploy · ทดสอบอัตโนมัติ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ระบบบนเว็บและ LINE · ผลทดสอบอัตโนมัติ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ร่วมกัน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ทดสอบ ตรวจคำตอบ ปรับปรุง · อัดคลิปสาธิต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บอทผ่าน 40/40 ผ่านหน้าเว็บจริง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2536"/>
                </a:solidFill>
                <a:latin typeface="Tahoma"/>
                <a:ea typeface="Tahoma"/>
                <a:cs typeface="Tahoma"/>
              </a:rPr>
              <a:t>ส่วนที่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8E0A12"/>
                </a:solidFill>
                <a:latin typeface="Tahoma"/>
                <a:ea typeface="Tahoma"/>
                <a:cs typeface="Tahoma"/>
              </a:rPr>
              <a:t>ธุรกิจ: เอ็กซ์ ฟิตเนส ศรีราชา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สตูดิโอเล็กที่ลูกค้าถามเรื่องเดิมซ้ำทุกวัน รวมถึงนอกเวลา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4577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สตูดิโอฟิตเนสสาขาเดียว ใจกลางศรีราชา เปิดปี 2567 (ข้อมูลจำลอง)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เปิด จ.–ศ. 06:00–22:00 · ส.–อา. 08:00–20:00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ถามซ้ำ: ราคา · ตารางคลาส · การจอง · นโยบายคืนเงิน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ส่งภาพมาให้ตรวจ: สลิป · ใบเสร็จ · ผลวัดร่างกาย · โปสเตอร์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บอทต้องตอบตรงข้อมูลร้าน และไม่ตัดสินใจแทนร้าน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ลูกค้า 3 กลุ่ม ถามคนละเรื่อง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63040"/>
          <a:ext cx="10545774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6120"/>
                <a:gridCol w="3834827"/>
                <a:gridCol w="3834827"/>
              </a:tblGrid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กลุ่ม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ลักษณะ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มักถามเรื่อง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คนทำงาน 22–45 ปี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ออฟฟิศ · นิคมอุตสาหกรรม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ราคา · คลาสเย็น · ส่งสลิป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นักเรียนนักศึกษา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งบจำกัด แพ็กเกจ 790 บาท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คลาสที่เข้าได้ · ผู้ปกครองเซ็น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มือใหม่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อยากได้คลาสกลุ่มและโค้ช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คลาสเริ่มต้น · ทดลองฟรี · PT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ข้อมูลที่บอทต้องตอบให้ถูก มีมากกว่า 30 รายการ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ทั้งหมดอยู่ในคลังความรู้ 9 เอกสาร (KB-01 ถึง KB-09)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แพ็กเกจสมาชิก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150–9,900 บาท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6553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6553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6553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คลาสกลุ่ม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29 รอบ/สัปดาห์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6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0146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เทรนเนอร์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PT 4 แพ็กเกจ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3739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3739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3739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สินค้าในร้าน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+ บริการเสริม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นโยบายสำคัญ: บอทบอกได้ แต่อนุมัติเองไม่ได้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4577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คืนเงิน · ส่วนลดพิเศษ ต้องให้ผู้จัดการอนุมัติ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สลิปผ่าน 5 ข้อ = "รอพนักงานยืนยัน" ไม่ใช่ "ชำระแล้ว"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ข้อมูลสมาชิกบอกเฉพาะเจ้าของ หลังยืนยันตัวตน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โปรที่หมดเขตใช้ไม่ได้ แม้มีโปสเตอร์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ไม่วินิจฉัยโรค ไม่แนะนำยา ฉุกเฉินโทร 1669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2536"/>
                </a:solidFill>
                <a:latin typeface="Tahoma"/>
                <a:ea typeface="Tahoma"/>
                <a:cs typeface="Tahoma"/>
              </a:rPr>
              <a:t>ส่วนที่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8E0A12"/>
                </a:solidFill>
                <a:latin typeface="Tahoma"/>
                <a:ea typeface="Tahoma"/>
                <a:cs typeface="Tahoma"/>
              </a:rPr>
              <a:t>องค์ประกอบของระบบ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แอปเดียวรับทุกช่องทาง ความฉลาดเรียกจาก Typhoon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276" y="1508760"/>
            <a:ext cx="8273143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หน้าเว็บ + LINE OA → FastAPI บน Render → LightRAG + Typhoon · ข้อมูลร้านและดัชนี deploy มากับโค้ด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ทุกคำตอบผ่านด่านกันความเสี่ยง ทั้งก่อนและหลัง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10545775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Guardrail ขาเข้า: หลอกเปลี่ยนคำสั่ง · ยา · นอกเรื่อง → ปฏิเสธทันที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LightRAG + ค้นด้วยคำ: ดึงเอกสารที่เกี่ยวกับคำถาม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กฎร้าน + ตรวจสลิปด้วยโค้ด: ไม่ให้ AI ตัดสินเรื่องเงิน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Typhoon ตอบภาษาไทย พร้อมแหล่งอ้างอิง KB-xx</a:t>
            </a:r>
          </a:p>
          <a:p>
            <a:pPr algn="l">
              <a:spcAft>
                <a:spcPts val="1200"/>
              </a:spcAft>
            </a:pPr>
            <a:r>
              <a:rPr sz="1700" b="0">
                <a:solidFill>
                  <a:srgbClr val="414957"/>
                </a:solidFill>
                <a:latin typeface="Tahoma"/>
                <a:ea typeface="Tahoma"/>
                <a:cs typeface="Tahoma"/>
              </a:rPr>
              <a:t>•  Guardrail ขาออก: ราคาแต่ง · "ชำระสำเร็จ" · ข้อมูลคนอื่น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เลือกเทคโนโลยีจากข้อจำกัดจริง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463040"/>
          <a:ext cx="1054577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3505"/>
                <a:gridCol w="3515258"/>
                <a:gridCol w="4687011"/>
              </a:tblGrid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ส่วน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เลือก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เพราะ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LLM + อ่านภาพ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Typhoon v2.5 + typhoon-ocr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ภาษาไทยดี · key เดียวใช้ทั้งคู่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ค้นความรู้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LightRAG + hash embedding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RAM ~250 MB · ค้นถูก 12/12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Backend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FastAPI + SQLite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แอปเดียว ไม่ต้องตั้งฐานข้อมูลแยก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Deploy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Render แผนฟรี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ดัชนีสร้างไว้ก่อน commit มากับโค้ด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2536"/>
                </a:solidFill>
                <a:latin typeface="Tahoma"/>
                <a:ea typeface="Tahoma"/>
                <a:cs typeface="Tahoma"/>
              </a:rPr>
              <a:t>ส่วนที่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8E0A12"/>
                </a:solidFill>
                <a:latin typeface="Tahoma"/>
                <a:ea typeface="Tahoma"/>
                <a:cs typeface="Tahoma"/>
              </a:rPr>
              <a:t>การทำงานของแชตบอท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ทุกข้อความผ่าน 8 ขั้น: AI ทำงานภาษา โค้ดตัดสินเรื่องสำคัญ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1078" y="1508760"/>
            <a:ext cx="8909538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guard ขาเข้า → ค้นคลังความรู้ → แนบกฎร้าน/ข้อมูลสมาชิก/ผลตรวจสลิป → Typhoon → guard ขาออก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ตัวอย่าง: "นักเรียนเล่นคลาส Ride ได้ไหม"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เคยตอบผิดว่า "ได้" — แก้ด้วยการค้นด้วยคำ + กฎร้านในโค้ด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4577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3732"/>
                <a:gridCol w="7382042"/>
              </a:tblGrid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ขั้น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เกิดอะไรขึ้น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Guard ขาเข้า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ไม่พบคำอันตราย → ส่งต่อ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ค้นคลังความรู้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ได้ KB-02 แพ็กเกจสมาชิก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กฎร้านในโค้ด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แนบ "แพ็กเกจนักเรียนเข้า Ride ไม่ได้ เข้าได้อีก 7 คลาส"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Typhoon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ตอบว่าเข้าไม่ได้ เสนอคลาสที่เข้าได้ อ้างอิง KB-02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Guard ขาออก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ไม่มีตัวเลขแต่ง → ส่งคำตอบ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ค้นความรู้ 3 ทาง: กราฟ เวกเตอร์ และคำ แล้วรวมผล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r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164" y="1508760"/>
            <a:ext cx="8413366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hash embedding ไม่ใช้โมเดล · RAM แทบเป็นศูนย์ · ค้นถูก 12/12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อ่านภาพ 2 ขั้น แล้วตรวจสลิป 5 ข้อด้วยโค้ด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293" y="1508760"/>
            <a:ext cx="973310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ผ่านครบ = "รอพนักงานยืนยัน" ไม่ใช่ "ชำระสำเร็จ"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ด่านกันความเสี่ยงทั้งก่อนและหลัง AI ตอบ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gu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14" y="1508760"/>
            <a:ext cx="10295467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ขาเข้า 6 กลุ่ม ตอบตายตัวไม่เรียก AI · ขาออก 8 ข้อ แทนหรือแก้คำตอบ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เรื่องเกินอำนาจ บอทส่งต่อพนักงาน ทั้งเว็บและ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fig-hand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438" y="1508760"/>
            <a:ext cx="948081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สถานะ bot → waiting → agent → closed · พนักงานตอบจากหลังบ้านที่เดียว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65176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F2536"/>
                </a:solidFill>
                <a:latin typeface="Tahoma"/>
                <a:ea typeface="Tahoma"/>
                <a:cs typeface="Tahoma"/>
              </a:rPr>
              <a:t>ส่วนที่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1752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8E0A12"/>
                </a:solidFill>
                <a:latin typeface="Tahoma"/>
                <a:ea typeface="Tahoma"/>
                <a:cs typeface="Tahoma"/>
              </a:rPr>
              <a:t>ผลการทดสอบ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ผ่านทุกกรณีเมื่อทดสอบผ่านหน้าเว็บจริงด้วย Playwright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ชุดทดสอบ qa/x-fitness-test-cases.md · ผลเต็มและภาพหน้าจอ qa/results/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10/10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คำถามทดสอบ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2.7 วินาที</a:t>
            </a:r>
          </a:p>
        </p:txBody>
      </p:sp>
      <p:sp>
        <p:nvSpPr>
          <p:cNvPr id="9" name="Rectangle 8"/>
          <p:cNvSpPr/>
          <p:nvPr/>
        </p:nvSpPr>
        <p:spPr>
          <a:xfrm>
            <a:off x="3516553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6553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6553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ภาพทดสอบ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7.5 วินาที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0146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0146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5/5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0146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ความปลอดภัย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0.9 วินาที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03739" y="1874520"/>
            <a:ext cx="2464993" cy="173736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3739" y="2148840"/>
            <a:ext cx="246499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20/20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03739" y="3017520"/>
            <a:ext cx="246499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กฎต้องทำ/ห้ามทำ</a:t>
            </a:r>
          </a:p>
          <a:p>
            <a:pPr algn="ctr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1.8 วินาที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สลิปโอนขาด: บอกยอดที่ขาด แล้วส่งต่อพนักงาน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2-I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83" y="1508760"/>
            <a:ext cx="306592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สมาชิก FN-10007 ค้าง 1,290 บาท โอน 690 บาท → ขาด 600 บาท · ไม่ยืนยันการชำระเอง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อ้างเป็นผู้จัดการขอลด 50%: ปฏิเสธก่อนถึง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6984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17-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83" y="1508760"/>
            <a:ext cx="3065929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594360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guard ขาเข้า N-07 N-08 ทำงาน · ใช้เวลาไม่ถึง 1 วินาที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E106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10613"/>
                </a:solidFill>
                <a:latin typeface="Tahoma"/>
                <a:ea typeface="Tahoma"/>
                <a:cs typeface="Tahoma"/>
              </a:rPr>
              <a:t>ทดสอบแล้วเจอปัญหาจริง และแก้ได้ทุกข้อ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รายการเต็ม 9 ข้อ อยู่ในเอกสารการพัฒนา หัวข้อ 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35608"/>
            <a:ext cx="1051560" cy="41148"/>
          </a:xfrm>
          <a:prstGeom prst="rect">
            <a:avLst/>
          </a:prstGeom>
          <a:solidFill>
            <a:srgbClr val="FF2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828800"/>
          <a:ext cx="10545774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87011"/>
                <a:gridCol w="5858763"/>
              </a:tblGrid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พบ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8E0A12"/>
                          </a:solidFill>
                          <a:latin typeface="Tahoma"/>
                          <a:ea typeface="Tahoma"/>
                          <a:cs typeface="Tahoma"/>
                        </a:rPr>
                        <a:t>แก้</a:t>
                      </a:r>
                    </a:p>
                  </a:txBody>
                  <a:tcPr marL="109728" marR="109728">
                    <a:solidFill>
                      <a:srgbClr val="FDEC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แต่งราคา "2,500 บาท"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guard ตรวจจำนวนเงินกับคลังความรู้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อ่านภาพไม่ได้ 3/5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แยก OCR → LLM จัด JSON + ลองซ้ำ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"นักเรียนเล่น Ride" ตอบว่าได้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ค้นแบบ hybrid + กฎร้านในโค้ด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แต่งว่า "ส่งถึงบ้านได้"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กฎร้าน: ไม่มีจัดส่ง/ผ่อน/ฝากเด็ก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เว็บส่งคำว่า "แอดมิน" ให้พนักงาน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600" b="0">
                          <a:solidFill>
                            <a:srgbClr val="414957"/>
                          </a:solidFill>
                          <a:latin typeface="Tahoma"/>
                          <a:ea typeface="Tahoma"/>
                          <a:cs typeface="Tahoma"/>
                        </a:rPr>
                        <a:t>ส่งต่อเฉพาะเมื่อขอคุยจริง (พบโดย Playwright)</a:t>
                      </a:r>
                    </a:p>
                  </a:txBody>
                  <a:tcPr marL="109728" marR="10972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629107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10820095" y="629107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A9AEB9"/>
                </a:solidFill>
                <a:latin typeface="Tahoma"/>
                <a:ea typeface="Tahoma"/>
                <a:cs typeface="Tahoma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2194560"/>
            <a:ext cx="92656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8E0A12"/>
                </a:solidFill>
                <a:latin typeface="Tahoma"/>
                <a:ea typeface="Tahoma"/>
                <a:cs typeface="Tahoma"/>
              </a:rPr>
              <a:t>“เรื่องสำคัญตรวจด้วยโค้ด ไม่ปล่อยให้ AI ตัดสินเอง — บอทจึงตอบจากข้อมูลจริงและไม่ถูกหลอก”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206240"/>
            <a:ext cx="92656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7D8492"/>
                </a:solidFill>
                <a:latin typeface="Tahoma"/>
                <a:ea typeface="Tahoma"/>
                <a:cs typeface="Tahoma"/>
              </a:rPr>
              <a:t>— X Fitness Chatbot · ขอบคุณครับ/ค่ะ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