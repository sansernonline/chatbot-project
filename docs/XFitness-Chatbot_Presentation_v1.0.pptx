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บ: สวัสดีค่ะ โครงงาน X Fitness Chatbot ผู้ช่วยตอบลูกค้าของสตูดิโอฟิตเนส ผู้พัฒนาคือ เบญจมาภรณ์ เจียนเกาะ 68076040 และ สรรเสริญ มากเจริญ 68076065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แนะนำทีมสั้น ๆ ว่าใครดูแลฝั่งไหน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บ: ปัญหาคือลูกค้าถามซ้ำ ๆ เรื่องราคา ตารางคลาส การจอง นโยบายคืนเงิน และส่งสลิปมาให้ตรวจ ทั้งดึกและวันหยุด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บ: แพ็กเกจ 5 แบบ คลาส 8 คลาส 29 รอบต่อสัปดาห์ เทรนเนอร์ 6 คน ทั้งหมดอยู่ในคลังความรู้ 9 เอกสาร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ลูกค้าแต่ละกลุ่มถามเรื่องต่างกัน แต่บอทตอบจากคลังความรู้ชุดเดียว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เรื่องที่มีผลทางเงินหรือข้อมูลส่วนตัว บอทให้ข้อมูลได้ แต่การอนุมัติต้องเป็นคนของร้าน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ส: ต่อไปเป็นองค์ประกอบของระบบ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ส: ลูกค้าคุยได้ 2 ช่องทาง หน้าเว็บกับ LINE เข้า backend FastAPI ตัวเดียวบน Render ความรู้ของร้านอยู่ในไฟล์ที่ deploy มากับโค้ด ความฉลาดเรียกใช้ Typhoon ผ่าน API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ส: ทุกข้อความผ่าน guardrail ขาเข้าก่อน ข้อความอันตรายตอบทันทีโดยไม่เรียก AI จากนั้นค้นคลังความรู้ด้วย LightRAG ส่งให้ Typhoon ตอบ แล้วผ่าน guardrail ขาออกอีกชั้น สลิปตรวจ 5 ข้อด้วยโค้ด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เหตุผลที่เลือกแต่ละเทคโนโลยี มาจากข้อจำกัดจริงของโปรเจกต์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ส: ส่วนสุดท้ายคือผลการทดสอบ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ส: เราทดสอบอัตโนมัติด้วย Playwright ผ่านหน้าเว็บจริง 40 กรณี ผ่านทั้งหมด พร้อมเวลาตอบและภาพหน้าจอทุกกรณี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บ: ถามคลาสวันเสาร์ ตอบตรงตาราง · ส่งสลิปที่โอนขาด บอทบอกยอดที่ขาดและส่งต่อพนักงาน ส: อ้างเป็นผู้จัดการขอส่วนลด ถูก guard ปฏิเสธทันที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ปัญหาที่เจอระหว่างทดสอบและวิธีแก้ เป็นหลักฐานว่าระบบผ่านการทดสอบและปรับปรุงแล้ว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บ: ขอบคุณค่ะ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0B0D"/>
              </a:gs>
              <a:gs pos="100000">
                <a:srgbClr val="2B0407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7498079" y="-365760"/>
            <a:ext cx="2011680" cy="7680960"/>
          </a:xfrm>
          <a:prstGeom prst="parallelogram">
            <a:avLst/>
          </a:prstGeom>
          <a:solidFill>
            <a:srgbClr val="6E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8595360" y="-365760"/>
            <a:ext cx="4206240" cy="7680960"/>
          </a:xfrm>
          <a:prstGeom prst="parallelogram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68580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858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219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822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X FITNESS · ศรีราชา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68580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X Fitness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0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794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ผู้ช่วยตอบลูกค้าสตูดิโอฟิตเนส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ตอบจากข้อมูลจริง · อ่านสลิปได้ · ไม่ถูกหลอก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4892040"/>
            <a:ext cx="125730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4892040"/>
            <a:ext cx="12573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Typhoon LLM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8548" y="4892040"/>
            <a:ext cx="969264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8548" y="4892040"/>
            <a:ext cx="96926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LightRAG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95828" y="4892040"/>
            <a:ext cx="873252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95828" y="4892040"/>
            <a:ext cx="87325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LINE OA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97096" y="489204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97096" y="4892040"/>
            <a:ext cx="17373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Playwright 40/40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8064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68076040 เบญจมาภรณ์ เจียนเกาะ  ·  68076065 สรรเสริญ มากเจริญ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06048308 Intelligent Chatbot Development · ตุลาคม 2569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04504" y="740664"/>
            <a:ext cx="3806055" cy="5285232"/>
          </a:xfrm>
          <a:prstGeom prst="roundRect">
            <a:avLst>
              <a:gd name="adj" fmla="val 7000"/>
            </a:avLst>
          </a:prstGeom>
          <a:solidFill>
            <a:srgbClr val="24242B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0-Q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68680"/>
            <a:ext cx="3550023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ทีมพัฒนา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2 คน 2 ฝั่ง: ธุรกิจและข้อมูล · ระบบและการทดสอบ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X </a:t>
            </a: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Fitness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349240" cy="434340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2057400"/>
            <a:ext cx="960120" cy="960120"/>
          </a:xfrm>
          <a:prstGeom prst="ellipse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57400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210312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เบญจมาภรณ์ เจียนเกาะ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68076040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ธุรกิจ · ข้อมูล · ชุดทดสอบ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749039"/>
            <a:ext cx="46634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●  </a:t>
            </a:r>
            <a:r>
              <a:rPr sz="17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วิเคราะห์ธุรกิจและลูกค้า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●  </a:t>
            </a:r>
            <a:r>
              <a:rPr sz="17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เขียนคลังความรู้ 9 เอกสาร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●  </a:t>
            </a:r>
            <a:r>
              <a:rPr sz="17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กำหนดกฎต้องทำ/ห้ามทำ 20 ข้อ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●  </a:t>
            </a:r>
            <a:r>
              <a:rPr sz="17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ออกแบบ test case 40 กรณี · คลิป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349240" cy="434340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0" y="2057400"/>
            <a:ext cx="960120" cy="960120"/>
          </a:xfrm>
          <a:prstGeom prst="ellipse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057400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10312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สรรเสริญ มากเจริญ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68076065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ระบบ · AI · Deploy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49039"/>
            <a:ext cx="46634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●  </a:t>
            </a:r>
            <a:r>
              <a:rPr sz="17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ออกแบบสถาปัตยกรรม · backend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●  </a:t>
            </a:r>
            <a:r>
              <a:rPr sz="17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LightRAG + Typhoon LLM/OCR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●  </a:t>
            </a:r>
            <a:r>
              <a:rPr sz="17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Guardrail · LINE OA · Render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●  </a:t>
            </a:r>
            <a:r>
              <a:rPr sz="17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ทดสอบอัตโนมัติ (pytest · Playwright)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108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ร่างการแบ่งงาน — แก้ให้ตรงกับที่ทำจริงก่อนนำเสนอ · ทั้งสองคนร่วมกันทดสอบ ตรวจคำตอบ และอัดคลิปสาธิต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01 · ปัญหาของร้าน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ลูกค้าถามเรื่องเดิมซ้ำทุกวัน — แม้ร้านปิดแล้ว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X </a:t>
            </a: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Fitness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669280" cy="658368"/>
          </a:xfrm>
          <a:prstGeom prst="roundRect">
            <a:avLst>
              <a:gd name="adj" fmla="val 35000"/>
            </a:avLst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572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รายเดือนราคาเท่าไหร่คะ?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1783080"/>
            <a:ext cx="7315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22:47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2633472"/>
            <a:ext cx="5669280" cy="658368"/>
          </a:xfrm>
          <a:prstGeom prst="roundRect">
            <a:avLst>
              <a:gd name="adj" fmla="val 35000"/>
            </a:avLst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2633472"/>
            <a:ext cx="4572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วันเสาร์มีคลาสอะไรบ้าง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633472"/>
            <a:ext cx="7315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06:12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83864"/>
            <a:ext cx="5669280" cy="658368"/>
          </a:xfrm>
          <a:prstGeom prst="roundRect">
            <a:avLst>
              <a:gd name="adj" fmla="val 35000"/>
            </a:avLst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83864"/>
            <a:ext cx="4572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📎 สลิปโอนเงิน.jpg  — ช่วยเช็กให้หน่อย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483864"/>
            <a:ext cx="7315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13:05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334256"/>
            <a:ext cx="5669280" cy="658368"/>
          </a:xfrm>
          <a:prstGeom prst="roundRect">
            <a:avLst>
              <a:gd name="adj" fmla="val 35000"/>
            </a:avLst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7320" y="4334256"/>
            <a:ext cx="4572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ขอคืนเงินได้ไหม ไม่ได้มาเลย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4334256"/>
            <a:ext cx="7315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21:30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84648"/>
            <a:ext cx="5669280" cy="658368"/>
          </a:xfrm>
          <a:prstGeom prst="roundRect">
            <a:avLst>
              <a:gd name="adj" fmla="val 35000"/>
            </a:avLst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84648"/>
            <a:ext cx="4572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นักศึกษาเข้าคลาสปั่นได้ไหม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5184648"/>
            <a:ext cx="7315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23:58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1783080"/>
            <a:ext cx="4251960" cy="4206240"/>
          </a:xfrm>
          <a:prstGeom prst="roundRect">
            <a:avLst>
              <a:gd name="adj" fmla="val 6000"/>
            </a:avLst>
          </a:prstGeom>
          <a:solidFill>
            <a:srgbClr val="1A1A1F"/>
          </a:solidFill>
          <a:ln w="15875">
            <a:solidFill>
              <a:srgbClr val="E1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205740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4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24 ชม.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31546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บอทตอบแทนร้านได้ตลอด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3749039"/>
            <a:ext cx="3749039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1">
                <a:solidFill>
                  <a:srgbClr val="22C55E"/>
                </a:solidFill>
                <a:latin typeface="Leelawadee UI"/>
                <a:ea typeface="Leelawadee UI"/>
                <a:cs typeface="Leelawadee UI"/>
              </a:rPr>
              <a:t>✓  </a:t>
            </a:r>
            <a:r>
              <a:rPr sz="16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ราคา · ตารางคลาส · การจอง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1">
                <a:solidFill>
                  <a:srgbClr val="22C55E"/>
                </a:solidFill>
                <a:latin typeface="Leelawadee UI"/>
                <a:ea typeface="Leelawadee UI"/>
                <a:cs typeface="Leelawadee UI"/>
              </a:rPr>
              <a:t>✓  </a:t>
            </a:r>
            <a:r>
              <a:rPr sz="16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นโยบายพัก ยกเลิก คืนเงิน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1">
                <a:solidFill>
                  <a:srgbClr val="22C55E"/>
                </a:solidFill>
                <a:latin typeface="Leelawadee UI"/>
                <a:ea typeface="Leelawadee UI"/>
                <a:cs typeface="Leelawadee UI"/>
              </a:rPr>
              <a:t>✓  </a:t>
            </a:r>
            <a:r>
              <a:rPr sz="16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ตรวจสลิปโอนเงิน 5 ข้อ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1">
                <a:solidFill>
                  <a:srgbClr val="22C55E"/>
                </a:solidFill>
                <a:latin typeface="Leelawadee UI"/>
                <a:ea typeface="Leelawadee UI"/>
                <a:cs typeface="Leelawadee UI"/>
              </a:rPr>
              <a:t>✓  </a:t>
            </a:r>
            <a:r>
              <a:rPr sz="16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ส่งต่อพนักงานเมื่อจำเป็น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01 · ธุรกิจ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เอ็กซ์ ฟิตเนส: สตูดิโอเล็กในศรีราชา ที่มีข้อมูลให้ตอบเยอะ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X </a:t>
            </a: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Fitness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587752" cy="274320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19" y="2057400"/>
            <a:ext cx="457200" cy="6400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19456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35204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แพ็กเกจสมาชิก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150 – 9,900 บาท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1" y="1783080"/>
            <a:ext cx="2587752" cy="274320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30751" y="2057400"/>
            <a:ext cx="457200" cy="6400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1" y="219456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1" y="35204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คลาสกลุ่ม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29 รอบต่อสัปดาห์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783080"/>
            <a:ext cx="2587752" cy="274320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01383" y="2057400"/>
            <a:ext cx="457200" cy="6400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219456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35204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เทรนเนอร์ส่วนตัว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PT 4 แพ็กเกจ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783080"/>
            <a:ext cx="2587752" cy="274320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72015" y="2057400"/>
            <a:ext cx="457200" cy="64008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2015" y="219456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5" y="35204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เอกสารความรู้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KB-01 ถึง KB-09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10908792" cy="123444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800600"/>
            <a:ext cx="35204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📍  </a:t>
            </a:r>
            <a:r>
              <a:rPr sz="15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88/8 ถ.สุขุมวิท ศรีราชา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800600"/>
            <a:ext cx="35204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🕕  </a:t>
            </a:r>
            <a:r>
              <a:rPr sz="15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จ–ศ 06:00–22:00 · ส–อา 08:00–20:00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800600"/>
            <a:ext cx="35204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🏋️  </a:t>
            </a:r>
            <a:r>
              <a:rPr sz="15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เวท · คาร์ดิโอ · ห้องปั่น · ห้องมวย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08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ข้อมูลร้าน สมาชิก และบัญชีทั้งหมดเป็นข้อมูลจำลองเพื่อใช้ในรายวิชา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01 · กลุ่มเป้าหมาย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ลูกค้า 3 กลุ่ม ถามคนละเรื่อง แต่ถามซ้ำทุกวัน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X </a:t>
            </a: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Fitness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502152" cy="425196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1097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48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คนทำงาน 22–45 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7472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ออฟฟิศ · นิคมอุตสาหกรรม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ศรีราชา–แหลมฉบัง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262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มักถาม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864608"/>
            <a:ext cx="1257300" cy="347472"/>
          </a:xfrm>
          <a:prstGeom prst="roundRect">
            <a:avLst>
              <a:gd name="adj" fmla="val 50000"/>
            </a:avLst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64608"/>
            <a:ext cx="12573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ราคาแพ็กเกจ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2868" y="4864608"/>
            <a:ext cx="969264" cy="347472"/>
          </a:xfrm>
          <a:prstGeom prst="roundRect">
            <a:avLst>
              <a:gd name="adj" fmla="val 50000"/>
            </a:avLst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2868" y="4864608"/>
            <a:ext cx="96926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คลาสเย็น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5303520"/>
            <a:ext cx="873252" cy="347472"/>
          </a:xfrm>
          <a:prstGeom prst="roundRect">
            <a:avLst>
              <a:gd name="adj" fmla="val 50000"/>
            </a:avLst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87325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ส่งสลิป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1783080"/>
            <a:ext cx="3502152" cy="425196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011680"/>
            <a:ext cx="1097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48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29718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นักเรียนนักศึกษา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347472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งบจำกัด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แพ็กเกจนักศึกษา 790 บาท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45262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มักถาม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90872" y="4864608"/>
            <a:ext cx="1545336" cy="347472"/>
          </a:xfrm>
          <a:prstGeom prst="roundRect">
            <a:avLst>
              <a:gd name="adj" fmla="val 50000"/>
            </a:avLst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872" y="4864608"/>
            <a:ext cx="154533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คลาสที่เข้าได้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90872" y="5303520"/>
            <a:ext cx="1449324" cy="347472"/>
          </a:xfrm>
          <a:prstGeom prst="roundRect">
            <a:avLst>
              <a:gd name="adj" fmla="val 50000"/>
            </a:avLst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2" y="5303520"/>
            <a:ext cx="144932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ผู้ปกครองเซ็น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0144" y="1783080"/>
            <a:ext cx="3502152" cy="425196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75904" y="2011680"/>
            <a:ext cx="1097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48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5904" y="29718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มือใหม่หัดออกกำลัง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5904" y="347472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อยากได้คลาสกลุ่ม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และคำแนะนำจากโค้ช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5904" y="45262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มักถาม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75904" y="4864608"/>
            <a:ext cx="1353312" cy="347472"/>
          </a:xfrm>
          <a:prstGeom prst="roundRect">
            <a:avLst>
              <a:gd name="adj" fmla="val 50000"/>
            </a:avLst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75904" y="4864608"/>
            <a:ext cx="13533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คลาสเริ่มต้น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38944" y="4864608"/>
            <a:ext cx="969264" cy="347472"/>
          </a:xfrm>
          <a:prstGeom prst="roundRect">
            <a:avLst>
              <a:gd name="adj" fmla="val 50000"/>
            </a:avLst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38944" y="4864608"/>
            <a:ext cx="96926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ทดลองฟรี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75904" y="5303520"/>
            <a:ext cx="393192" cy="347472"/>
          </a:xfrm>
          <a:prstGeom prst="roundRect">
            <a:avLst>
              <a:gd name="adj" fmla="val 50000"/>
            </a:avLst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75904" y="5303520"/>
            <a:ext cx="3931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01 · นโยบาย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บอทบอกนโยบายได้ — แต่อนุมัติแทนร้านไม่ได้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X </a:t>
            </a: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Fitness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51960"/>
          </a:xfrm>
          <a:prstGeom prst="roundRect">
            <a:avLst>
              <a:gd name="adj" fmla="val 8000"/>
            </a:avLst>
          </a:prstGeom>
          <a:solidFill>
            <a:srgbClr val="0F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22C55E"/>
                </a:solidFill>
                <a:latin typeface="Leelawadee UI"/>
                <a:ea typeface="Leelawadee UI"/>
                <a:cs typeface="Leelawadee UI"/>
              </a:rPr>
              <a:t>✓  </a:t>
            </a:r>
            <a:r>
              <a:rPr sz="24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บอททำได้เอง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880360"/>
            <a:ext cx="4526280" cy="603504"/>
          </a:xfrm>
          <a:prstGeom prst="roundRect">
            <a:avLst>
              <a:gd name="adj" fmla="val 25000"/>
            </a:avLst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2880360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บอกราคา ตารางคลาส เงื่อนไข พร้อมแหล่งอ้างอิง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630168"/>
            <a:ext cx="4526280" cy="603504"/>
          </a:xfrm>
          <a:prstGeom prst="roundRect">
            <a:avLst>
              <a:gd name="adj" fmla="val 25000"/>
            </a:avLst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630168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ตรวจสลิป 5 ข้อ แล้วแจ้ง "รอพนักงานยืนยัน"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4379976"/>
            <a:ext cx="4526280" cy="603504"/>
          </a:xfrm>
          <a:prstGeom prst="roundRect">
            <a:avLst>
              <a:gd name="adj" fmla="val 25000"/>
            </a:avLst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4379976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บอกแต้ม ยอดค้าง หลังยืนยันตัวตน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5129783"/>
            <a:ext cx="4526280" cy="603504"/>
          </a:xfrm>
          <a:prstGeom prst="roundRect">
            <a:avLst>
              <a:gd name="adj" fmla="val 25000"/>
            </a:avLst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5129783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เทียบวันหมดเขต แนะนำโปรที่ยังใช้ได้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783080"/>
            <a:ext cx="5349240" cy="4251960"/>
          </a:xfrm>
          <a:prstGeom prst="roundRect">
            <a:avLst>
              <a:gd name="adj" fmla="val 8000"/>
            </a:avLst>
          </a:prstGeom>
          <a:solidFill>
            <a:srgbClr val="2A0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0574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✕  </a:t>
            </a:r>
            <a:r>
              <a:rPr sz="24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ต้องส่งต่อคน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2880360"/>
            <a:ext cx="4526280" cy="603504"/>
          </a:xfrm>
          <a:prstGeom prst="roundRect">
            <a:avLst>
              <a:gd name="adj" fmla="val 25000"/>
            </a:avLst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880360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อนุมัติคืนเงิน · ยกเลิกสัญญา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3630168"/>
            <a:ext cx="4526280" cy="603504"/>
          </a:xfrm>
          <a:prstGeom prst="roundRect">
            <a:avLst>
              <a:gd name="adj" fmla="val 25000"/>
            </a:avLst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3630168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ให้ส่วนลดนอกโปรที่ประกาศ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379976"/>
            <a:ext cx="4526280" cy="603504"/>
          </a:xfrm>
          <a:prstGeom prst="roundRect">
            <a:avLst>
              <a:gd name="adj" fmla="val 25000"/>
            </a:avLst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4379976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ยืนยันว่า "ชำระเงินแล้ว"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5129783"/>
            <a:ext cx="4526280" cy="603504"/>
          </a:xfrm>
          <a:prstGeom prst="roundRect">
            <a:avLst>
              <a:gd name="adj" fmla="val 25000"/>
            </a:avLst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5129783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เปิดเผยข้อมูลสมาชิกคนอื่น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0B0D"/>
              </a:gs>
              <a:gs pos="100000">
                <a:srgbClr val="22030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9418320" y="-365760"/>
            <a:ext cx="3291840" cy="7680960"/>
          </a:xfrm>
          <a:prstGeom prst="parallelogram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5486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0332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44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ระบบทำงานอย่างไร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45262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เว็บ + LINE → guardrail → LightRAG → Typhoon → guardrail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1908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02 · สถาปัตยกรรม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แอปเดียวรับทุกช่องทาง ความฉลาดเรียกจาก Typhoon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X </a:t>
            </a: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Fitness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10908792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0290" y="1691640"/>
            <a:ext cx="8447314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02 · การทำงาน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ทุกข้อความผ่าน 5 ด่าน กันความเสี่ยงทั้งก่อนและหลัง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X </a:t>
            </a: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Fitness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011680" cy="306324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E1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59" y="2011680"/>
            <a:ext cx="438912" cy="438912"/>
          </a:xfrm>
          <a:prstGeom prst="ellipse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01168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0604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🛡️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310128"/>
            <a:ext cx="1737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Guardrail ขาเข้า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005072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หลอกเปลี่ยนคำสั่ง · ยา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นอกเรื่อง → ปฏิเสธทันที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70048" y="3182112"/>
            <a:ext cx="182880" cy="329184"/>
          </a:xfrm>
          <a:prstGeom prst="rightArrow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62072" y="1828800"/>
            <a:ext cx="2011680" cy="306324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4952" y="2011680"/>
            <a:ext cx="438912" cy="438912"/>
          </a:xfrm>
          <a:prstGeom prst="ellipse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201168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4952" y="260604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4952" y="3310128"/>
            <a:ext cx="1737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LightRAG + ค้นด้วยคำ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4005072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ดึงเอกสารที่เกี่ยวข้อง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กราฟ + เวกเตอร์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92040" y="3182112"/>
            <a:ext cx="182880" cy="329184"/>
          </a:xfrm>
          <a:prstGeom prst="rightArrow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84064" y="1828800"/>
            <a:ext cx="2011680" cy="306324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66944" y="2011680"/>
            <a:ext cx="438912" cy="438912"/>
          </a:xfrm>
          <a:prstGeom prst="ellipse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6944" y="201168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260604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6944" y="3310128"/>
            <a:ext cx="1737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กฎร้าน + ตรวจสลิป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6944" y="4005072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ข้อเท็จจริงสำคัญ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ตรวจด้วยโค้ด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114032" y="3182112"/>
            <a:ext cx="182880" cy="329184"/>
          </a:xfrm>
          <a:prstGeom prst="rightArrow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06056" y="1828800"/>
            <a:ext cx="2011680" cy="306324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88936" y="2011680"/>
            <a:ext cx="438912" cy="438912"/>
          </a:xfrm>
          <a:prstGeom prst="ellipse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88936" y="201168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8936" y="260604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8936" y="3310128"/>
            <a:ext cx="1737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Typhoon ตอบ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88936" y="4005072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ภาษาไทย สุภาพ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พร้อมอ้างอิง KB-xx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336024" y="3182112"/>
            <a:ext cx="182880" cy="329184"/>
          </a:xfrm>
          <a:prstGeom prst="rightArrow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28048" y="1828800"/>
            <a:ext cx="2011680" cy="306324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E1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710928" y="2011680"/>
            <a:ext cx="438912" cy="438912"/>
          </a:xfrm>
          <a:prstGeom prst="ellipse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10928" y="201168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10928" y="260604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0928" y="3310128"/>
            <a:ext cx="1737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Guardrail ขาออก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10928" y="4005072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ราคาแต่ง · "ชำระแล้ว"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ข้อมูลคนอื่น → แก้/แทน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212080"/>
            <a:ext cx="10908792" cy="822960"/>
          </a:xfrm>
          <a:prstGeom prst="roundRect">
            <a:avLst>
              <a:gd name="adj" fmla="val 20000"/>
            </a:avLst>
          </a:prstGeom>
          <a:solidFill>
            <a:srgbClr val="2A0A0D"/>
          </a:solidFill>
          <a:ln w="15875">
            <a:solidFill>
              <a:srgbClr val="E1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21208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เรื่องเงินและข้อมูลส่วนตัว </a:t>
            </a:r>
            <a:r>
              <a:rPr sz="18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ตรวจด้วยโค้ด — ไม่ปล่อยให้ AI ตัดสินเอง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02 · เทคโนโลยี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เลือกจากข้อจำกัดจริง: ภาษาไทย · RAM 512 MB · key 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X </a:t>
            </a: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Fitness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1 key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130552"/>
            <a:ext cx="2514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8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Typhoon v2.5 + typhoon-ocr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LLM ภาษาไทย ตอบแชต อ่านภาพ และสร้างดัชนี ด้วย key เดียว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5740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12/12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130552"/>
            <a:ext cx="2514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8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LightRAG + hash embedding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ค้นเอกสารถูกทุกข้อในชุดทดสอบ ไม่ต้องใช้โมเดล embedding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77639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251959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250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325112"/>
            <a:ext cx="2514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8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FastAPI + Render ฟรี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แอปเดียวรับเว็บ LINE หลังบ้าน · ดัชนีสร้างไว้ก่อน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77639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4251959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63 + 40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325112"/>
            <a:ext cx="2514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8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pytest + Playwright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ทดสอบระดับโค้ด และผ่านหน้าเว็บจริงเหมือนลูกค้า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0B0D"/>
              </a:gs>
              <a:gs pos="100000">
                <a:srgbClr val="22030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9418320" y="-365760"/>
            <a:ext cx="3291840" cy="7680960"/>
          </a:xfrm>
          <a:prstGeom prst="parallelogram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5486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0332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44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ผลการทดสอบ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45262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ทดสอบผ่านหน้าเว็บจริงด้วย Playwright · Typhoon + LightRAG 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1908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03 · ผลทดสอบ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ผ่านทุกกรณีเมื่อใช้หน้าเว็บจริงเหมือนลูกค้า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X </a:t>
            </a: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Fitness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4846320" cy="425196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5875">
            <a:solidFill>
              <a:srgbClr val="E1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40/40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กรณีผ่าน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Playwright · Chromium · ภาพหน้าจอทุกกรณี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82880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คำถามทดสอบ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8288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10/10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187451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2.7 วิ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2377440"/>
            <a:ext cx="5623560" cy="128016"/>
          </a:xfrm>
          <a:prstGeom prst="rect">
            <a:avLst/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97880" y="2377440"/>
            <a:ext cx="5623560" cy="12801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97880" y="28803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ภาพทดสอบ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88036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5/5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292607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7.5 วิ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97880" y="3429000"/>
            <a:ext cx="5623560" cy="128016"/>
          </a:xfrm>
          <a:prstGeom prst="rect">
            <a:avLst/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97880" y="3429000"/>
            <a:ext cx="5623560" cy="12801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39319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ความปลอดภัย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93192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5/5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97763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0.9 วิ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97880" y="4480559"/>
            <a:ext cx="5623560" cy="128016"/>
          </a:xfrm>
          <a:prstGeom prst="rect">
            <a:avLst/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97880" y="4480559"/>
            <a:ext cx="5623560" cy="12801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4983479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ต้องทำ / ห้ามทำ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983479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20/20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5029199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1.8 วิ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97880" y="5532119"/>
            <a:ext cx="5623560" cy="128016"/>
          </a:xfrm>
          <a:prstGeom prst="rect">
            <a:avLst/>
          </a:prstGeom>
          <a:solidFill>
            <a:srgbClr val="242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97880" y="5532119"/>
            <a:ext cx="5623560" cy="128016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978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เวลาตอบเฉลี่ย นับจากกดส่งถึงคำตอบขึ้นบนจอ (ภาพรวมเวลาอ่านภาพ)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03 · ตัวอย่างจริง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ตอบตรงข้อมูลร้าน ตรวจสลิปได้ และไม่ถูกหลอก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X </a:t>
            </a: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Fitness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3" y="1655064"/>
            <a:ext cx="2579683" cy="3547872"/>
          </a:xfrm>
          <a:prstGeom prst="roundRect">
            <a:avLst>
              <a:gd name="adj" fmla="val 7000"/>
            </a:avLst>
          </a:prstGeom>
          <a:solidFill>
            <a:srgbClr val="24242B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0-Q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19" y="1783080"/>
            <a:ext cx="2323651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34924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ถามตารางคลาสวันเสาร์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ตอบครบ 4 คลาส พร้อมป้ายอ้างอิง KB-03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9744" y="1655064"/>
            <a:ext cx="2579683" cy="3547872"/>
          </a:xfrm>
          <a:prstGeom prst="roundRect">
            <a:avLst>
              <a:gd name="adj" fmla="val 7000"/>
            </a:avLst>
          </a:prstGeom>
          <a:solidFill>
            <a:srgbClr val="24242B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2-I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59" y="1783080"/>
            <a:ext cx="2323651" cy="3291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534924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ส่งสลิปที่โอนขาด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บอกยอดที่ขาด 600 บาท แล้วเสนอคุยกับพนักงาน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58783" y="1655064"/>
            <a:ext cx="2579683" cy="3547872"/>
          </a:xfrm>
          <a:prstGeom prst="roundRect">
            <a:avLst>
              <a:gd name="adj" fmla="val 7000"/>
            </a:avLst>
          </a:prstGeom>
          <a:solidFill>
            <a:srgbClr val="24242B"/>
          </a:solidFill>
          <a:ln w="15875">
            <a:solidFill>
              <a:srgbClr val="343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17-S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799" y="1783080"/>
            <a:ext cx="2323651" cy="3291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66759" y="534924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อ้างเป็นผู้จัดการ ขอลด 50%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guard N-07 N-08 ปฏิเสธก่อนถึง 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03 · ทดสอบและปรับปรุง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ทดสอบแล้วเจอปัญหาจริง — แก้ได้ทุกข้อ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19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X </a:t>
            </a: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Fitness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พบ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22C55E"/>
                </a:solidFill>
                <a:latin typeface="Leelawadee UI"/>
                <a:ea typeface="Leelawadee UI"/>
                <a:cs typeface="Leelawadee UI"/>
              </a:rPr>
              <a:t>แก้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5120640" cy="658368"/>
          </a:xfrm>
          <a:prstGeom prst="roundRect">
            <a:avLst>
              <a:gd name="adj" fmla="val 25000"/>
            </a:avLst>
          </a:prstGeom>
          <a:solidFill>
            <a:srgbClr val="2A0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แต่งราคา "2,500 บาท"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70448" y="2112264"/>
            <a:ext cx="384048" cy="274320"/>
          </a:xfrm>
          <a:prstGeom prst="rightArrow">
            <a:avLst/>
          </a:prstGeom>
          <a:solidFill>
            <a:srgbClr val="6E6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1920240"/>
            <a:ext cx="5148072" cy="658368"/>
          </a:xfrm>
          <a:prstGeom prst="roundRect">
            <a:avLst>
              <a:gd name="adj" fmla="val 25000"/>
            </a:avLst>
          </a:prstGeom>
          <a:solidFill>
            <a:srgbClr val="0F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920240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guard ตรวจจำนวนเงินกับคลังความรู้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743200"/>
            <a:ext cx="5120640" cy="658368"/>
          </a:xfrm>
          <a:prstGeom prst="roundRect">
            <a:avLst>
              <a:gd name="adj" fmla="val 25000"/>
            </a:avLst>
          </a:prstGeom>
          <a:solidFill>
            <a:srgbClr val="2A0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43200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อ่านภาพไม่ได้ 3 ใน 5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70448" y="2935224"/>
            <a:ext cx="384048" cy="274320"/>
          </a:xfrm>
          <a:prstGeom prst="rightArrow">
            <a:avLst/>
          </a:prstGeom>
          <a:solidFill>
            <a:srgbClr val="6E6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743200"/>
            <a:ext cx="5148072" cy="658368"/>
          </a:xfrm>
          <a:prstGeom prst="roundRect">
            <a:avLst>
              <a:gd name="adj" fmla="val 25000"/>
            </a:avLst>
          </a:prstGeom>
          <a:solidFill>
            <a:srgbClr val="0F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743200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แยก OCR → LLM จัด JSON + ลองซ้ำ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5120640" cy="658368"/>
          </a:xfrm>
          <a:prstGeom prst="roundRect">
            <a:avLst>
              <a:gd name="adj" fmla="val 25000"/>
            </a:avLst>
          </a:prstGeom>
          <a:solidFill>
            <a:srgbClr val="2A0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566160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"นักเรียนเล่น Ride" ตอบว่าได้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870448" y="3758184"/>
            <a:ext cx="384048" cy="274320"/>
          </a:xfrm>
          <a:prstGeom prst="rightArrow">
            <a:avLst/>
          </a:prstGeom>
          <a:solidFill>
            <a:srgbClr val="6E6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0" y="3566160"/>
            <a:ext cx="5148072" cy="658368"/>
          </a:xfrm>
          <a:prstGeom prst="roundRect">
            <a:avLst>
              <a:gd name="adj" fmla="val 25000"/>
            </a:avLst>
          </a:prstGeom>
          <a:solidFill>
            <a:srgbClr val="0F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3566160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ค้นแบบ hybrid + กฎร้านในโค้ด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389120"/>
            <a:ext cx="5120640" cy="658368"/>
          </a:xfrm>
          <a:prstGeom prst="roundRect">
            <a:avLst>
              <a:gd name="adj" fmla="val 25000"/>
            </a:avLst>
          </a:prstGeom>
          <a:solidFill>
            <a:srgbClr val="2A0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89120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แต่งว่า "ส่งถึงบ้านได้"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870448" y="4581144"/>
            <a:ext cx="384048" cy="274320"/>
          </a:xfrm>
          <a:prstGeom prst="rightArrow">
            <a:avLst/>
          </a:prstGeom>
          <a:solidFill>
            <a:srgbClr val="6E6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0" y="4389120"/>
            <a:ext cx="5148072" cy="658368"/>
          </a:xfrm>
          <a:prstGeom prst="roundRect">
            <a:avLst>
              <a:gd name="adj" fmla="val 25000"/>
            </a:avLst>
          </a:prstGeom>
          <a:solidFill>
            <a:srgbClr val="0F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4389120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กฎร้าน: ไม่มีจัดส่ง ผ่อน ฝากเด็ก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212080"/>
            <a:ext cx="5120640" cy="658368"/>
          </a:xfrm>
          <a:prstGeom prst="roundRect">
            <a:avLst>
              <a:gd name="adj" fmla="val 25000"/>
            </a:avLst>
          </a:prstGeom>
          <a:solidFill>
            <a:srgbClr val="2A0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212080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เว็บส่งคำว่า "แอดมิน" ให้พนักงาน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870448" y="5404104"/>
            <a:ext cx="384048" cy="274320"/>
          </a:xfrm>
          <a:prstGeom prst="rightArrow">
            <a:avLst/>
          </a:prstGeom>
          <a:solidFill>
            <a:srgbClr val="6E6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0" y="5212080"/>
            <a:ext cx="5148072" cy="658368"/>
          </a:xfrm>
          <a:prstGeom prst="roundRect">
            <a:avLst>
              <a:gd name="adj" fmla="val 25000"/>
            </a:avLst>
          </a:prstGeom>
          <a:solidFill>
            <a:srgbClr val="0F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5212080"/>
            <a:ext cx="4754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ส่งต่อเฉพาะเมื่อขอคุยจริง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108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รายการเต็ม 9 ข้อ อยู่ในเอกสารการพัฒนา หัวข้อ 6 · ปัญหาสุดท้ายพบโดย Playwright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0B0D"/>
              </a:gs>
              <a:gs pos="100000">
                <a:srgbClr val="2B0407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9692640" y="-365760"/>
            <a:ext cx="3108960" cy="7680960"/>
          </a:xfrm>
          <a:prstGeom prst="parallelogram">
            <a:avLst/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68580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E1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219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828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0" b="1">
                <a:solidFill>
                  <a:srgbClr val="E10613"/>
                </a:solidFill>
                <a:latin typeface="Leelawadee UI"/>
                <a:ea typeface="Leelawadee UI"/>
                <a:cs typeface="Leelawadee UI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8686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เรื่องสำคัญตรวจด้วยโค้ด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FF2D3D"/>
                </a:solidFill>
                <a:latin typeface="Leelawadee UI"/>
                <a:ea typeface="Leelawadee UI"/>
                <a:cs typeface="Leelawadee UI"/>
              </a:rPr>
              <a:t>ไม่ปล่อยให้ AI ตัดสินเอง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0">
                <a:solidFill>
                  <a:srgbClr val="A8A8B0"/>
                </a:solidFill>
                <a:latin typeface="Leelawadee UI"/>
                <a:ea typeface="Leelawadee UI"/>
                <a:cs typeface="Leelawadee UI"/>
              </a:rPr>
              <a:t>บอทจึงตอบจากข้อมูลจริงของร้าน และไม่ถูกหลอก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9834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F5F5F4"/>
                </a:solidFill>
                <a:latin typeface="Leelawadee UI"/>
                <a:ea typeface="Leelawadee UI"/>
                <a:cs typeface="Leelawadee UI"/>
              </a:rPr>
              <a:t>ขอบคุณครับ / ค่ะ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80644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6E6E78"/>
                </a:solidFill>
                <a:latin typeface="Leelawadee UI"/>
                <a:ea typeface="Leelawadee UI"/>
                <a:cs typeface="Leelawadee UI"/>
              </a:rPr>
              <a:t>github.com/sansernonline/chatbot-project · เบญจมาภรณ์ เจียนเกาะ · สรรเสริญ มากเจริญ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